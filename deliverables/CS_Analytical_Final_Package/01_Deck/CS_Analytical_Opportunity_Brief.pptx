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B66"/>
                </a:solidFill>
                <a:latin typeface="Adobe Caslon Pro"/>
              </a:rPr>
              <a:t>CS ANALYTICAL LABORATORY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1234440"/>
            <a:ext cx="32004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55448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An opportunity brief.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Market, growth paths,</a:t>
            </a:r>
          </a:p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0B2545"/>
                </a:solidFill>
                <a:latin typeface="Adobe Caslon Pro"/>
              </a:rPr>
              <a:t>and the agentic-AI question.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074920"/>
            <a:ext cx="2011680" cy="0"/>
          </a:xfrm>
          <a:prstGeom prst="line">
            <a:avLst/>
          </a:prstGeom>
          <a:ln w="1270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dobe Caslon Pro"/>
              </a:rPr>
              <a:t>Prepared by  Bruce Longley  ·  TSI-Citadel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B66"/>
                </a:solidFill>
                <a:latin typeface="Adobe Caslon Pro"/>
              </a:rPr>
              <a:t>For  Alan Weiss  ·  Chief Financial Officer  ·  CS Analytical Laboratory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B66"/>
                </a:solidFill>
                <a:latin typeface="Adobe Caslon Pro"/>
              </a:rPr>
              <a:t>May 2026  ·  bruce@tsicitadel.ai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we're sending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0" i="0">
                <a:solidFill>
                  <a:srgbClr val="0B2545"/>
                </a:solidFill>
                <a:latin typeface="Adobe Caslon Pro"/>
              </a:rPr>
              <a:t>Three industry shifts compounded</a:t>
            </a:r>
          </a:p>
          <a:p>
            <a:pPr algn="l">
              <a:lnSpc>
                <a:spcPct val="108000"/>
              </a:lnSpc>
            </a:pPr>
            <a:r>
              <a:rPr sz="3800" b="0" i="0">
                <a:solidFill>
                  <a:srgbClr val="0B2545"/>
                </a:solidFill>
                <a:latin typeface="Adobe Caslon Pro"/>
              </a:rPr>
              <a:t>in one six-month window.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7033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886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USP &lt;382&gt;  ·  Dec 1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70832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Elastomer functional suitability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shifts to the drug manufacturer.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USP: 'early adoption is encouraged.'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86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FDA agentic AI  ·  Dec 1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370832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52628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All FDA employees — including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inspectors — receive secure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agentic AI. Regulator is no longer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agentically naive.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886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Nelson Labs publicly acquisitive  ·  May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4370832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52628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Sotera Health Q1 2026: 'exploring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strategic acquisitions to enhance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Nelson Labs' pharmaceutical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capabilities.' NJ precedent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CS Analytical at a glance — outside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The only cGMP-built,</a:t>
            </a:r>
          </a:p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FDA-regulated lab in the world</a:t>
            </a:r>
          </a:p>
          <a:p>
            <a:pPr algn="l">
              <a:lnSpc>
                <a:spcPct val="108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dedicated to container testing.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02336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425196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Where &amp;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2560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Clifton, NJ. Doubling lab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space, May 2026. USP &lt;1207&gt;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deterministic portfolio plus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USP &lt;382&gt;, &lt;87&gt;, &lt;788&gt;,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gas, micro.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25196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Who — 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92040"/>
            <a:ext cx="2560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Brian Mulhall, CEO. Alan Weiss,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CFO, leading finance, BD, HR.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Brandon Zurawlow, CSO —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PDA TR-86 contributor.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Founder-led, PhD-staffed.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25196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Recent moves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892040"/>
            <a:ext cx="2560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RM Analytical launch (Feb 2026).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Clifton doubling (May 2026).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Interphex 2026 showcase: IV bag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CCIT, &lt;382&gt;, cell-therapy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distribution testing.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251960"/>
            <a:ext cx="25603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892040"/>
            <a:ext cx="2560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Vendor-neutral. Method-led.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Founder-accountable on every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study. Inspected by design,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not retrofit.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sits in front of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 $9.5 B host market —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and a $1.5 B niche moving with it.</a:t>
            </a:r>
          </a:p>
        </p:txBody>
      </p:sp>
      <p:pic>
        <p:nvPicPr>
          <p:cNvPr id="11" name="Picture 10" descr="chart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6949440" cy="3801509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955279" y="329184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4290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Pharma analytical testing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outsourcing:  $9.5 B (2025),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~9% CAGR through 2030.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CCIT services carve-out: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$1.5 B (2025), ~9-10% CAGR.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$2.4 B by 2030.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BioPlan 2025: outsourcing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budgets surged 11%, U.S.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captured 75% of intentions.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Top-5 CDMOs hold only 15%.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55B66"/>
                </a:solidFill>
                <a:latin typeface="Adobe Caslon Pro"/>
              </a:rPr>
              <a:t>Sources: Precedence Research, Grand View, MarketsAndMarkets, BioPlan Associates 22nd Annual Report (Jul 2025). Composite midpoints.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Five forces, one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Each alone would justify a faster plan.</a:t>
            </a:r>
          </a:p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All five landed in the same window.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USP &lt;382&gt;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Dec 1, 2025. System-level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elastomer testing. Burden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shifts to drug manufacturer.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USP: 'early adoption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encouraged.'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Annex 1 convergence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29768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EU GMP Annex 1 requires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validated deterministic CCIT.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Grade A bioContamination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limit = zero. Lyo pre-batch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sterilization enforced.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GLP-1 / PFS wave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29768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Prefilled syringes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$9.7B → $18.1B by 2031.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GLP-1 autoinjectors at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15.6% CAGR. COP barrels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adopted; methods reset.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503B sterility crisis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29768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GenoGenix Jul 2025 recall.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ProRx Oct 2025: 36,000+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semaglutide vials. 1,150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adverse events filed YTD.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503B is now CCIT-buying.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703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Biologics 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416052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429768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~40% of FDA novel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approvals. Every one in a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sterile primary container.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Glass-delamination recalls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back in 2026 headlines.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CONTAINER-FORMAT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New containers. New methods. No incumbent.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Each new format below is a discrete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CCIT method-development engagement.</a:t>
            </a:r>
          </a:p>
        </p:txBody>
      </p:sp>
      <p:pic>
        <p:nvPicPr>
          <p:cNvPr id="11" name="Picture 10" descr="chart_contai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7498079" cy="4616873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412480" y="301752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320040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None of the generalists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has these formats validated.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CS Analytical's CSO has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publicly presented 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cryogenic CCIT — the only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specialty lab with the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credential to claim that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ground.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Every launch above is 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billable engagement waiting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to be sized.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December 1, 2025.  Two things became official.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The regulator is no longer agentically naive.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10817352" cy="1691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58B3A"/>
                </a:solidFill>
                <a:latin typeface="Adobe Caslon Pro"/>
              </a:rPr>
              <a:t>USP &lt;382&gt;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AF7F2"/>
                </a:solidFill>
                <a:latin typeface="Adobe Caslon Pro"/>
              </a:rPr>
              <a:t>Elastomeric Component Functional Suitability — official.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AF7F2"/>
                </a:solidFill>
                <a:latin typeface="Adobe Caslon Pro"/>
              </a:rPr>
              <a:t>System-level testing. Responsibility shifts from elastomer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AF7F2"/>
                </a:solidFill>
                <a:latin typeface="Adobe Caslon Pro"/>
              </a:rPr>
              <a:t>supplier to drug manufacturer. USP: 'early adoption is encouraged.'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09160"/>
            <a:ext cx="10817352" cy="155448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709160"/>
            <a:ext cx="36576" cy="155448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The FDA — same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Agentic AI deployed to all FDA employees. Secure GovCloud, no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training on industry submissions. Supports pre-market review,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post-market surveillance, INSPECTIONS, and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COMPETITIVE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08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Who else is in the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Generalists are broad.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Specialists are scaling. The corner is open.</a:t>
            </a:r>
          </a:p>
        </p:txBody>
      </p:sp>
      <p:pic>
        <p:nvPicPr>
          <p:cNvPr id="11" name="Picture 10" descr="chart_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7132320" cy="4644301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46720" y="292608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0" y="3108960"/>
            <a:ext cx="36576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Three competitive moves in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the last six months: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Nelson Labs doubling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cleanrooms and publicly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acquisitive (Sotera Q1).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West Pharma 165k sq ft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Dublin (Mar 2026) for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GLP-1 vertical integration.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Eurofins adding 157k m²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  of lab space in 2025-2026.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The deep-and-modern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corner remains empty.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ALREADY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09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CS Analytical is already doing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This is not a turnaround brief.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It is an acceleration brief.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RM Analytical launch  ·  Feb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519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Raw material and excipient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testing under a sister brand.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Adjacent revenue. Cross-sell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into existing 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03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Clifton expansion  ·  May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2519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38912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Doubling the lab footprint.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Capacity built ahead of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demand, not behind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703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Micro, gas, IV bag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2519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38912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USP &lt;87&gt;, &lt;788&gt;, USP/EP gas,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IV bag CCIT. Each is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cross-sell into existing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sponsor relationships.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703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Interphex 2026 showcase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2519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389120"/>
            <a:ext cx="2560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Public commitment to IV bag,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USP &lt;382&gt;, and cell-therapy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ISTA/ASTM distribution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testing. Ahead of competitors.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ORGANIC GROWTH — NO AI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10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Five paths that don't require an AI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Each is buildable on the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existing team and footprint.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6118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51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USP &lt;382&gt; wave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71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Named lab for the post-Dec 2025 elastomer rush.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5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GLP-1 / PFS HVLD productization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7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HVLD for COP-barrel autoinjectors. Repeatable, high-margin.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57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Annex 1 European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77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EU GMP Annex 1 opens European sponsors. Reciprocal-recognition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20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60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Cell, gene &amp; cryo container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8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No incumbent method. Highest margin per study. CSO credential.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235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6E1B26"/>
                </a:solidFill>
                <a:latin typeface="Adobe Caslon Pr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63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Adobe Caslon Pro"/>
              </a:rPr>
              <a:t>Regulatory consulting carve-out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83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1C1C1C"/>
                </a:solidFill>
                <a:latin typeface="Adobe Caslon Pro"/>
              </a:rPr>
              <a:t>Productize the advisory work the team gives away today.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AGENTIC AI — TSI-CITADEL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11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TSI-Citadel multiplies what's already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McKinsey: 35-45% productivity gain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across 270 pharma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B66"/>
                </a:solidFill>
                <a:latin typeface="Adobe Caslon Pro"/>
              </a:rPr>
              <a:t>Five agents we would build first.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2918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520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USP &lt;382&gt;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wave-capture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062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2103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Monitors every 483 / WL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for elastomer findings.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Resolves to sponsor list.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Drafts targeted outreach.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20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Container-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format radar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42062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343400"/>
            <a:ext cx="2103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Tracks SCHOTT, Stevanato,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BD, West, Bonfiglioli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launches. Sizes the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method-dev opportunity.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520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Inspection-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readiness mirror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2062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4343400"/>
            <a:ext cx="2103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Mirror to FDA's own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agentic inspector. Predicts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what AI-augmented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inspectors will find.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520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CAR-T cryo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method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2062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343400"/>
            <a:ext cx="2103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Phase II/III CAR-T radar.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Cryo container choices.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Failure-rate economics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(3.87% — 25%) drive demand.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520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Strategic-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optionality tracker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42062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4343400"/>
            <a:ext cx="2103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CFO-only quarterly view.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Comparable transactions,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acquirer activity, market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C1C1C"/>
                </a:solidFill>
                <a:latin typeface="Adobe Caslon Pro"/>
              </a:rPr>
              <a:t>position. Board-friendly.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AGENTIC LAYER IS ALREADY COMMERCIAL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Six top-25 pharmas.  One million cases.  95%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Agentic AI in pharma is no longer experimental.</a:t>
            </a:r>
          </a:p>
        </p:txBody>
      </p:sp>
      <p:pic>
        <p:nvPicPr>
          <p:cNvPr id="11" name="Picture 10" descr="chart_agentic_a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6949440" cy="3801509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772400" y="274320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0" y="2926080"/>
            <a:ext cx="39319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ArisGlobal NavaX: 1M+ safety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cases. 95%+ accuracy. 30%+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efficiency gain. 120% Y/Y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bookings Q1 2026.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Sixth top-25 pharma adopted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by Jun 2025. Top-20 adopted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Signals + Distribution Agents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in 6 weeks from launch.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FDA itself deployed agentic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AI Dec 1, 2025. The question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is no longer if. It is who,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C1C"/>
                </a:solidFill>
                <a:latin typeface="Adobe Caslon Pro"/>
              </a:rPr>
              <a:t>when, and at what tempo.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ROI SHAPE — FOR THE CFO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Three revenue paths.  One calendar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Conservative pays for itself.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Aggressive changes the category.</a:t>
            </a:r>
          </a:p>
        </p:txBody>
      </p:sp>
      <p:pic>
        <p:nvPicPr>
          <p:cNvPr id="11" name="Picture 10" descr="char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5486400" cy="2612571"/>
          </a:xfrm>
          <a:prstGeom prst="rect">
            <a:avLst/>
          </a:prstGeom>
        </p:spPr>
      </p:pic>
      <p:pic>
        <p:nvPicPr>
          <p:cNvPr id="12" name="Picture 11" descr="chart_calendar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43200"/>
            <a:ext cx="5303520" cy="2999272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85800" y="576072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89788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C1C1C"/>
                </a:solidFill>
                <a:latin typeface="Adobe Caslon Pro"/>
              </a:rPr>
              <a:t>Strategic optionality: Nelson Labs (Sotera) publicly named pharmaceutical-capability acquisitions as a 2026 priority. The 2018 Gibraltar Labs (NJ) precedent is on the record. Life-sciences tools subsector trades at 18-25× EBITDA on recurring-revenue characteristics.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STRATEGIC OPTIONALITY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Nelson Labs has done this before.  In New Jersey.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B2545"/>
                </a:solidFill>
                <a:latin typeface="Adobe Caslon Pro"/>
              </a:rPr>
              <a:t>The Gibraltar precedent.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20040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AUGUST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The transaction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Sotera Health's Nelson Labs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acquires Gibraltar Laboratories.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Fairfield, NJ. Family-owned since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1970. FDA-registered. ISO 17025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accredited. USP-compendial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microbiology and analytical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chemistry. Two tri-state-area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facilities.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49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The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Sotera Health Q1 2026 earnings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call: 'Targeted acquisitions or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partnerships could add testing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capability, regional sterilization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access, or technology depth.'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Management 'exploring strategic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acquisitions to enhance Nelson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Labs' pharmaceutical capabilities.'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12648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626364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0B2545"/>
                </a:solidFill>
                <a:latin typeface="Adobe Caslon Pro"/>
              </a:rPr>
              <a:t>The structural parallel is uncomfortable to ignore.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ADJACENT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else this team could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Adjacencies, not pivots.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Optional, not required.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Combination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661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Cross-center (CDER + CDRH) submissions. Few labs 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Device sterilization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023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ISO 11135 / 11137 adjacency. Same sponsor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Cell-therapy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4805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ISTA/ASTM testing for live-cell packaging. Already in Interphex slate.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37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Smart-packaging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9377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Embedded RFID + tamper-evident integrity (TOPPAC infuse class).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Compounding pharmacy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3949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USP &lt;797&gt; / &lt;800&gt;. Fragmented buyer base, less competition.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52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B2545"/>
                </a:solidFill>
                <a:latin typeface="Adobe Caslon Pro"/>
              </a:rPr>
              <a:t>Veterinary biologics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8521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Same containers. USDA channel. Underpriced.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RISKS — NAMED, NOT GLOSSED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we'd want to disagree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Three CFO-relevant risks,</a:t>
            </a:r>
          </a:p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0B2545"/>
                </a:solidFill>
                <a:latin typeface="Adobe Caslon Pro"/>
              </a:rPr>
              <a:t>three handlings.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Capital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Lab expansion + RMA + agentic in one fiscal year. Sequence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agentic behind the lab build; agentic pays back in &lt;12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Margin dilution from adjacencies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805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RMA and micro carry lower margin than CCIT. Hold CCIT pricing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while RMA scales; use agentic intel to keep core pipeline full.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2545"/>
                </a:solidFill>
                <a:latin typeface="Adobe Caslon Pro"/>
              </a:rPr>
              <a:t>Hallucination in regulated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39496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Human-in-the-loop on every agent flag that touches a filed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method. Agents are suggestive, not authoritative — by design.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IF YOU WANTED TO WORK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TSI-CITADEL  ·  OPPORTUNITY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Alan Weiss  ·  CFO, CS Analytical Laboratory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How TSI-Citadel would engage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Light footprint. Boxed scope.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0B2545"/>
                </a:solidFill>
                <a:latin typeface="Adobe Caslon Pro"/>
              </a:rPr>
              <a:t>The CFO holds the gate at day 30 and day 90.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1 —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Diagnostic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Map data feeds, regulatory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cycles, inquiry-to-quote workflow.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Deliver: exposure map, BD pipeline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seed, regulatory-intel trial.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No code yet. Go / no-go at day 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31 —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Two agents live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Regulatory-intel and market-radar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agents wired to real feeds. Daily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output to a named internal user.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First measurable lift inside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the period.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7033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61 — 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0690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Decide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66344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8006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Joint readout. Numbers. The three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remaining agents are built only if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the first two have earned them.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Fixed pricing at outset.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C1C1C"/>
                </a:solidFill>
                <a:latin typeface="Adobe Caslon Pro"/>
              </a:rPr>
              <a:t>The CFO holds the gate.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58B3A"/>
                </a:solidFill>
                <a:latin typeface="Adobe Caslon Pro"/>
              </a:rPr>
              <a:t>THE NEXT CONVERSATION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737360"/>
            <a:ext cx="22860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20574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Read the long form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on a plane.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Then tell us where</a:t>
            </a:r>
          </a:p>
          <a:p>
            <a:pPr algn="l">
              <a:lnSpc>
                <a:spcPct val="108000"/>
              </a:lnSpc>
            </a:pPr>
            <a:r>
              <a:rPr sz="4400" b="0" i="0">
                <a:solidFill>
                  <a:srgbClr val="FAF7F2"/>
                </a:solidFill>
                <a:latin typeface="Adobe Caslon Pro"/>
              </a:rPr>
              <a:t>we're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2"/>
                </a:solidFill>
                <a:latin typeface="Adobe Caslon Pro"/>
              </a:rPr>
              <a:t>Bruce Longley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58B3A"/>
                </a:solidFill>
                <a:latin typeface="Adobe Caslon Pro"/>
              </a:rPr>
              <a:t>TSI-Citadel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AF7F2"/>
                </a:solidFill>
                <a:latin typeface="Adobe Caslon Pro"/>
              </a:rPr>
              <a:t>bruce@tsicitadel.ai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