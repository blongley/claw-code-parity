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0"/>
            <a:ext cx="73152" cy="6858000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55B66"/>
                </a:solidFill>
                <a:latin typeface="Adobe Caslon Pro"/>
              </a:rPr>
              <a:t>CS ANALYTICAL  ×  TSI CITADEL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1234440"/>
            <a:ext cx="3200400" cy="0"/>
          </a:xfrm>
          <a:prstGeom prst="line">
            <a:avLst/>
          </a:prstGeom>
          <a:ln w="19050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155448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0B2545"/>
                </a:solidFill>
                <a:latin typeface="Adobe Caslon Pro"/>
              </a:rPr>
              <a:t>A partnership brief.</a:t>
            </a:r>
          </a:p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0B2545"/>
                </a:solidFill>
                <a:latin typeface="Adobe Caslon Pro"/>
              </a:rPr>
              <a:t>A regulated first vertical</a:t>
            </a:r>
          </a:p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0B2545"/>
                </a:solidFill>
                <a:latin typeface="Adobe Caslon Pro"/>
              </a:rPr>
              <a:t>for an agentic platform.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5074920"/>
            <a:ext cx="2011680" cy="0"/>
          </a:xfrm>
          <a:prstGeom prst="line">
            <a:avLst/>
          </a:prstGeom>
          <a:ln w="12700">
            <a:solidFill>
              <a:srgbClr val="0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5840" y="5212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C1C1C"/>
                </a:solidFill>
                <a:latin typeface="Adobe Caslon Pro"/>
              </a:rPr>
              <a:t>Prepared by CS Analytical Laboratory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577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B66"/>
                </a:solidFill>
                <a:latin typeface="Adobe Caslon Pro"/>
              </a:rPr>
              <a:t>Brian Mulhall, Chief Executive Officer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897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5B66"/>
                </a:solidFill>
                <a:latin typeface="Adobe Caslon Pro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×  TSI CITADEL  ·  PARTNERSHIP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Confidential  ·  for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02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One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0" i="0">
                <a:solidFill>
                  <a:srgbClr val="0B2545"/>
                </a:solidFill>
                <a:latin typeface="Adobe Caslon Pro"/>
              </a:rPr>
              <a:t>We'd like to be your</a:t>
            </a:r>
          </a:p>
          <a:p>
            <a:pPr algn="l">
              <a:lnSpc>
                <a:spcPct val="105000"/>
              </a:lnSpc>
            </a:pPr>
            <a:r>
              <a:rPr sz="4800" b="0" i="0">
                <a:solidFill>
                  <a:srgbClr val="0B2545"/>
                </a:solidFill>
                <a:latin typeface="Adobe Caslon Pro"/>
              </a:rPr>
              <a:t>first regulated vertical.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4846320"/>
            <a:ext cx="2286000" cy="0"/>
          </a:xfrm>
          <a:prstGeom prst="line">
            <a:avLst/>
          </a:prstGeom>
          <a:ln w="15875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5029200"/>
            <a:ext cx="1081735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1">
                <a:solidFill>
                  <a:srgbClr val="1C1C1C"/>
                </a:solidFill>
                <a:latin typeface="Adobe Caslon Pro"/>
              </a:rPr>
              <a:t>CS Analytical is small enough to move fast, regulated</a:t>
            </a:r>
          </a:p>
          <a:p>
            <a:pPr algn="l">
              <a:lnSpc>
                <a:spcPct val="135000"/>
              </a:lnSpc>
            </a:pPr>
            <a:r>
              <a:rPr sz="1800" b="0" i="1">
                <a:solidFill>
                  <a:srgbClr val="1C1C1C"/>
                </a:solidFill>
                <a:latin typeface="Adobe Caslon Pro"/>
              </a:rPr>
              <a:t>enough to prove the case, and operates inside one of</a:t>
            </a:r>
          </a:p>
          <a:p>
            <a:pPr algn="l">
              <a:lnSpc>
                <a:spcPct val="135000"/>
              </a:lnSpc>
            </a:pPr>
            <a:r>
              <a:rPr sz="1800" b="0" i="1">
                <a:solidFill>
                  <a:srgbClr val="1C1C1C"/>
                </a:solidFill>
                <a:latin typeface="Adobe Caslon Pro"/>
              </a:rPr>
              <a:t>the most data-rich, narrowly-scoped, high-stakes niches</a:t>
            </a:r>
          </a:p>
          <a:p>
            <a:pPr algn="l">
              <a:lnSpc>
                <a:spcPct val="135000"/>
              </a:lnSpc>
            </a:pPr>
            <a:r>
              <a:rPr sz="1800" b="0" i="1">
                <a:solidFill>
                  <a:srgbClr val="1C1C1C"/>
                </a:solidFill>
                <a:latin typeface="Adobe Caslon Pro"/>
              </a:rPr>
              <a:t>in pharma. That combination is rare.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×  TSI CITADEL  ·  PARTNERSHIP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Confidential  ·  for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03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CS Analytical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i="0">
                <a:solidFill>
                  <a:srgbClr val="0B2545"/>
                </a:solidFill>
                <a:latin typeface="Adobe Caslon Pro"/>
              </a:rPr>
              <a:t>Forty-eight people, one</a:t>
            </a:r>
          </a:p>
          <a:p>
            <a:pPr algn="l">
              <a:lnSpc>
                <a:spcPct val="108000"/>
              </a:lnSpc>
            </a:pPr>
            <a:r>
              <a:rPr sz="3600" b="0" i="0">
                <a:solidFill>
                  <a:srgbClr val="0B2545"/>
                </a:solidFill>
                <a:latin typeface="Adobe Caslon Pro"/>
              </a:rPr>
              <a:t>specialty, thirty years.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703320"/>
            <a:ext cx="2286000" cy="0"/>
          </a:xfrm>
          <a:prstGeom prst="line">
            <a:avLst/>
          </a:prstGeom>
          <a:ln w="15875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85800" y="3931920"/>
            <a:ext cx="256032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Specialty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72000"/>
            <a:ext cx="2560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Container Closure Integrity Testing.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USP &lt;1207&gt;-built. cGMP from the floor 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3931920"/>
            <a:ext cx="256032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40690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Footprint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572000"/>
            <a:ext cx="2560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48 FTE.  PhD-staffed.  Founder-led.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New Jersey-based, U.S. and international clients.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3931920"/>
            <a:ext cx="256032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40690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Track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572000"/>
            <a:ext cx="2560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CEO Brian Mulhall built the first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FDA-regulated cGMP CCIT lab in the world.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Methods filed against USP &lt;1207&gt;.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3931920"/>
            <a:ext cx="256032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40690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572000"/>
            <a:ext cx="2560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Vendor-neutral on platforms.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Method-led, not box-led.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Founder-accountable on every study.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×  TSI CITADEL  ·  PARTNERSHIP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Confidential  ·  for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04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Why CCIT is the right first vertical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0B2545"/>
                </a:solidFill>
                <a:latin typeface="Adobe Caslon Pro"/>
              </a:rPr>
              <a:t>Bounded ontology. Structured data.</a:t>
            </a:r>
          </a:p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0B2545"/>
                </a:solidFill>
                <a:latin typeface="Adobe Caslon Pro"/>
              </a:rPr>
              <a:t>Real money attached.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38328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5661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2545"/>
                </a:solidFill>
                <a:latin typeface="Adobe Caslon Pro"/>
              </a:rPr>
              <a:t>Bounded ontology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02336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60520"/>
            <a:ext cx="2560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Vials, syringes, autoinjectors,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cartridges, cryo-bags. A finite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world an agent can model in full.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5661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2545"/>
                </a:solidFill>
                <a:latin typeface="Adobe Caslon Pro"/>
              </a:rPr>
              <a:t>Structured public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402336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160520"/>
            <a:ext cx="2560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FDA filings, ClinicalTrials.gov,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USP / EP / PIC/S guidance —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all machine-readable, all moving.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5661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2545"/>
                </a:solidFill>
                <a:latin typeface="Adobe Caslon Pro"/>
              </a:rPr>
              <a:t>Regulatory cycle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02336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4160520"/>
            <a:ext cx="2560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Clear gating moments: USP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updates, 483s, warning letters,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PDUFA dates. The clock is loud.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5661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2545"/>
                </a:solidFill>
                <a:latin typeface="Adobe Caslon Pro"/>
              </a:rPr>
              <a:t>Sparse specialist field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402336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4160520"/>
            <a:ext cx="2560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Fewer than two dozen credible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CCIT specialists worldwide. The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signal-to-noise ratio is unusual.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SIGNAL DENSITY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×  TSI CITADEL  ·  PARTNERSHIP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Confidential  ·  for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05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The five feeds that matter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0B2545"/>
                </a:solidFill>
                <a:latin typeface="Adobe Caslon Pro"/>
              </a:rPr>
              <a:t>Every one of them is public,</a:t>
            </a:r>
          </a:p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0B2545"/>
                </a:solidFill>
                <a:latin typeface="Adobe Caslon Pro"/>
              </a:rPr>
              <a:t>structured, and continuously moving.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38328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611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6E1B26"/>
                </a:solidFill>
                <a:latin typeface="Adobe Caslon Pr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FDA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72000"/>
            <a:ext cx="2103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Novel approvals. Supplements.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Form 483 observations. Warning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letters. Inspection outcomes.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611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6E1B26"/>
                </a:solidFill>
                <a:latin typeface="Adobe Caslon Pr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069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ClinicalTrials.gov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572000"/>
            <a:ext cx="2103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Sterile-injectable indications.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Phase II/III readouts. Sponsor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identities and timelines.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611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6E1B26"/>
                </a:solidFill>
                <a:latin typeface="Adobe Caslon Pr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4069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USP · EP · JP · PIC/S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572000"/>
            <a:ext cx="2103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Monograph and guidance updates.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Resolves directly against client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filed methods.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611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6E1B26"/>
                </a:solidFill>
                <a:latin typeface="Adobe Caslon Pr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069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Conference rosters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572000"/>
            <a:ext cx="2103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PDA, INTERPHEX, AAPS, BIO.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Who is presenting what tells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you who is about to file.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611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6E1B26"/>
                </a:solidFill>
                <a:latin typeface="Adobe Caslon Pro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4069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Container-vendor releases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4572000"/>
            <a:ext cx="2103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West, Schott, Stevanato, BD.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New formats trigger new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methods. The cycle is loud.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AGENT SPECIFICATIONS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×  TSI CITADEL  ·  PARTNERSHIP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Confidential  ·  for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06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Five agents we'd want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0B2545"/>
                </a:solidFill>
                <a:latin typeface="Adobe Caslon Pro"/>
              </a:rPr>
              <a:t>Concrete specs. Buildable in</a:t>
            </a:r>
          </a:p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0B2545"/>
                </a:solidFill>
                <a:latin typeface="Adobe Caslon Pro"/>
              </a:rPr>
              <a:t>ninety days. Measurable from day one.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38328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6118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Market radar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06908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206240"/>
            <a:ext cx="21031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Ingests five feeds, resolves to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sponsor entities, emits a weekly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BD shortlist with evidence linked.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6118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Regulatory intel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406908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4206240"/>
            <a:ext cx="21031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Detects USP / EP / PIC/S change.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Resolves against client filed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methods. Flags exposure.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6118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BD operations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406908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4206240"/>
            <a:ext cx="21031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Drafts outbound. Qualifies replies.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Schedules. Prepares meeting briefs.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Returns founder calendar.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6118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Scientific surveillance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406908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206240"/>
            <a:ext cx="21031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Distills CCIT, HVLD, helium-leak,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vacuum-decay literature daily.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Methods updates surface first.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6118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Proposal synthesis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406908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4206240"/>
            <a:ext cx="21031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Inquiry to quoted proposal in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hours. Pulls method, capacity,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precedent, regulatory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×  TSI CITADEL  ·  PARTNERSHIP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Confidential  ·  for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07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A 90-day, boxed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B2545"/>
                </a:solidFill>
                <a:latin typeface="Adobe Caslon Pro"/>
              </a:rPr>
              <a:t>Three workstreams.</a:t>
            </a:r>
          </a:p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B2545"/>
                </a:solidFill>
                <a:latin typeface="Adobe Caslon Pro"/>
              </a:rPr>
              <a:t>One joint readout.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38328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5661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DAYS 1 —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2545"/>
                </a:solidFill>
                <a:latin typeface="Adobe Caslon Pro"/>
              </a:rPr>
              <a:t>Stand up the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52628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66344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TSI Citadel agents wired to the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five feeds. First weekly BD digest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live by day 15. First regulatory-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intel flag delivered by day 20.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Internal users trained.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5661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DAYS 31 — 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2545"/>
                </a:solidFill>
                <a:latin typeface="Adobe Caslon Pro"/>
              </a:rPr>
              <a:t>Pilot two growth vectors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452628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66344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Cryo-container methods and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autoinjector HVLD. Two named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pilot sponsors each. Methods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drafted, quotes out, first revenue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booked.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5661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DAYS 61 — 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9319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2545"/>
                </a:solidFill>
                <a:latin typeface="Adobe Caslon Pro"/>
              </a:rPr>
              <a:t>Package and price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452628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466344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Productized CCIT-as-a-service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tier defined. Two public case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studies drafted with client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co-sign. Joint readout to CS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Analytical leadership and the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TSI Citadel partnership team.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ROI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×  TSI CITADEL  ·  PARTNERSHIP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Confidential  ·  for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08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Two readings of the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0B2545"/>
                </a:solidFill>
                <a:latin typeface="Adobe Caslon Pro"/>
              </a:rPr>
              <a:t>Conservative pays for itself.</a:t>
            </a:r>
          </a:p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0B2545"/>
                </a:solidFill>
                <a:latin typeface="Adobe Caslon Pro"/>
              </a:rPr>
              <a:t>Aggressive changes the category.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52044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7033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CONSERVATIVE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B2545"/>
                </a:solidFill>
                <a:latin typeface="Adobe Caslon Pro"/>
              </a:rPr>
              <a:t>Operational gains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7200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2×  qualified BD opportunities per quarter.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60%  reduction in inquiry-to-quote cycle.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30%  founder calendar recovered.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15-25 pp  win-rate improvement.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2-3×  revenue uplift over 36 months.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7033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AGGRESSIVE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069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B2545"/>
                </a:solidFill>
                <a:latin typeface="Adobe Caslon Pro"/>
              </a:rPr>
              <a:t>Category shift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57200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Productized CCIT-as-a-service: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continuous, monitored, regulatory-aware.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Recurring revenue. Software-augmented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science pricing. A new line of business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rather than a faster version of the old one.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5040" y="3749039"/>
            <a:ext cx="0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035040" y="3749039"/>
            <a:ext cx="8000" cy="2560320"/>
          </a:xfrm>
          <a:prstGeom prst="rect">
            <a:avLst/>
          </a:prstGeom>
          <a:solidFill>
            <a:srgbClr val="C9B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WHAT WE BRING TSI CITADEL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×  TSI CITADEL  ·  PARTNERSHIP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Confidential  ·  for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09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Why this partnership is asymmetric in your favor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0B2545"/>
                </a:solidFill>
                <a:latin typeface="Adobe Caslon Pro"/>
              </a:rPr>
              <a:t>A real regulated vertical is</a:t>
            </a:r>
          </a:p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0B2545"/>
                </a:solidFill>
                <a:latin typeface="Adobe Caslon Pro"/>
              </a:rPr>
              <a:t>worth more than a synthetic one.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38328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566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Proof-of-platform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56616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A live, named, FDA-regulated customer running agents against real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regulatory data — not a sandbox demo.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Co-marketable case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11480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Public case studies with named regulatory traction. The kind of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proof that closes the next ten enterprise conversations for you.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63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Scientific feedback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66344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PhD-level domain experts pressure-testing agent reasoning against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the regulatory reality. The agents get smarter; the platform improves.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212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Repeatable template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52120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Specialty laboratories are a fragmented, under-served market.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CS Analytical is the template; the next ten are the market.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760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Stable counterparty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576072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Founder-led, profitable, regulated. Low deployment risk. No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platform team has to babysit the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RISKS AND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×  TSI CITADEL  ·  PARTNERSHIP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Confidential  ·  for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10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Things that could go wrong, and what we'd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B2545"/>
                </a:solidFill>
                <a:latin typeface="Adobe Caslon Pro"/>
              </a:rPr>
              <a:t>Named, not glossed.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38328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5661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Platform lock-in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6616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Data feeds are commodity sources. Agent prompts and reasoning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chains version-controlled and exportable. Switching cost contained.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062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Hallucination in regulatory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2062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Human-in-the-loop on every flag that touches a client filed method.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Regulatory intel is suggested, not authoritative — by design.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463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Pilot cycle-time slippage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84632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Boxed 90-day scope, weekly checkpoints, success criteria defined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up front. The pilot ends on day 90 with a readout, on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864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Misaligned incentives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4864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Commercial structure agreed before agents are built: pilot fee,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revenue share on productized tier, joint case-study rights.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58B3A"/>
                </a:solidFill>
                <a:latin typeface="Adobe Caslon Pro"/>
              </a:rPr>
              <a:t>THE NEXT CONVERSATION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1737360"/>
            <a:ext cx="2286000" cy="0"/>
          </a:xfrm>
          <a:prstGeom prst="line">
            <a:avLst/>
          </a:prstGeom>
          <a:ln w="19050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05840" y="201168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0" i="0">
                <a:solidFill>
                  <a:srgbClr val="FAF7F2"/>
                </a:solidFill>
                <a:latin typeface="Adobe Caslon Pro"/>
              </a:rPr>
              <a:t>A scoping call.</a:t>
            </a:r>
          </a:p>
          <a:p>
            <a:pPr algn="l">
              <a:lnSpc>
                <a:spcPct val="108000"/>
              </a:lnSpc>
            </a:pPr>
            <a:r>
              <a:rPr sz="4600" b="0" i="0">
                <a:solidFill>
                  <a:srgbClr val="FAF7F2"/>
                </a:solidFill>
                <a:latin typeface="Adobe Caslon Pro"/>
              </a:rPr>
              <a:t>A look at the agent specs.</a:t>
            </a:r>
          </a:p>
          <a:p>
            <a:pPr algn="l">
              <a:lnSpc>
                <a:spcPct val="108000"/>
              </a:lnSpc>
            </a:pPr>
            <a:r>
              <a:rPr sz="4600" b="0" i="0">
                <a:solidFill>
                  <a:srgbClr val="FAF7F2"/>
                </a:solidFill>
                <a:latin typeface="Adobe Caslon Pro"/>
              </a:rPr>
              <a:t>A boxed ninety-day pilot.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83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AF7F2"/>
                </a:solidFill>
                <a:latin typeface="Adobe Caslon Pro"/>
              </a:rPr>
              <a:t>Brian Mulhall  ·  Chief Executive Officer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49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B58B3A"/>
                </a:solidFill>
                <a:latin typeface="Adobe Caslon Pro"/>
              </a:rPr>
              <a:t>CS Analytical Laboratory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715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AF7F2"/>
                </a:solidFill>
                <a:latin typeface="Adobe Caslon Pro"/>
              </a:rPr>
              <a:t>brian.mulhall@csanalytical.com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