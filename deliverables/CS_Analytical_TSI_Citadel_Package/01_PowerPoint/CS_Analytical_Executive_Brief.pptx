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73152" cy="6858000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777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55B66"/>
                </a:solidFill>
                <a:latin typeface="Adobe Caslon Pro"/>
              </a:rPr>
              <a:t>CS ANALYTICAL LABORATORY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05840" y="1234440"/>
            <a:ext cx="3200400" cy="0"/>
          </a:xfrm>
          <a:prstGeom prst="line">
            <a:avLst/>
          </a:prstGeom>
          <a:ln w="19050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155448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i="0">
                <a:solidFill>
                  <a:srgbClr val="0B2545"/>
                </a:solidFill>
                <a:latin typeface="Adobe Caslon Pro"/>
              </a:rPr>
              <a:t>An executive brief</a:t>
            </a:r>
          </a:p>
          <a:p>
            <a:pPr algn="l">
              <a:lnSpc>
                <a:spcPct val="105000"/>
              </a:lnSpc>
            </a:pPr>
            <a:r>
              <a:rPr sz="5400" b="0" i="0">
                <a:solidFill>
                  <a:srgbClr val="0B2545"/>
                </a:solidFill>
                <a:latin typeface="Adobe Caslon Pro"/>
              </a:rPr>
              <a:t>on market, opportunity,</a:t>
            </a:r>
          </a:p>
          <a:p>
            <a:pPr algn="l">
              <a:lnSpc>
                <a:spcPct val="105000"/>
              </a:lnSpc>
            </a:pPr>
            <a:r>
              <a:rPr sz="5400" b="0" i="0">
                <a:solidFill>
                  <a:srgbClr val="0B2545"/>
                </a:solidFill>
                <a:latin typeface="Adobe Caslon Pro"/>
              </a:rPr>
              <a:t>and the case for agentic AI.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40" y="5074920"/>
            <a:ext cx="2011680" cy="0"/>
          </a:xfrm>
          <a:prstGeom prst="line">
            <a:avLst/>
          </a:prstGeom>
          <a:ln w="12700">
            <a:solidFill>
              <a:srgbClr val="0B2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C1C1C"/>
                </a:solidFill>
                <a:latin typeface="Adobe Caslon Pro"/>
              </a:rPr>
              <a:t>Prepared for Al Weiss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55B66"/>
                </a:solidFill>
                <a:latin typeface="Adobe Caslon Pro"/>
              </a:rPr>
              <a:t>By Brian Mulhall  ·  Chief Executive Officer  ·  CS Analytical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5B66"/>
                </a:solidFill>
                <a:latin typeface="Adobe Caslon Pro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One sentence.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0" i="0">
                <a:solidFill>
                  <a:srgbClr val="0B2545"/>
                </a:solidFill>
                <a:latin typeface="Adobe Caslon Pro"/>
              </a:rPr>
              <a:t>Container Closure Integrity is the</a:t>
            </a:r>
          </a:p>
          <a:p>
            <a:pPr algn="l">
              <a:lnSpc>
                <a:spcPct val="108000"/>
              </a:lnSpc>
            </a:pPr>
            <a:r>
              <a:rPr sz="4600" b="0" i="0">
                <a:solidFill>
                  <a:srgbClr val="0B2545"/>
                </a:solidFill>
                <a:latin typeface="Adobe Caslon Pro"/>
              </a:rPr>
              <a:t>single most regulated, most ignored,</a:t>
            </a:r>
          </a:p>
          <a:p>
            <a:pPr algn="l">
              <a:lnSpc>
                <a:spcPct val="108000"/>
              </a:lnSpc>
            </a:pPr>
            <a:r>
              <a:rPr sz="4600" b="0" i="0">
                <a:solidFill>
                  <a:srgbClr val="0B2545"/>
                </a:solidFill>
                <a:latin typeface="Adobe Caslon Pro"/>
              </a:rPr>
              <a:t>and most under-served line item</a:t>
            </a:r>
          </a:p>
          <a:p>
            <a:pPr algn="l">
              <a:lnSpc>
                <a:spcPct val="108000"/>
              </a:lnSpc>
            </a:pPr>
            <a:r>
              <a:rPr sz="4600" b="0" i="0">
                <a:solidFill>
                  <a:srgbClr val="0B2545"/>
                </a:solidFill>
                <a:latin typeface="Adobe Caslon Pro"/>
              </a:rPr>
              <a:t>on a sterile-drug spec sheet.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5166360"/>
            <a:ext cx="2286000" cy="0"/>
          </a:xfrm>
          <a:prstGeom prst="line">
            <a:avLst/>
          </a:prstGeom>
          <a:ln w="1587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5303520"/>
            <a:ext cx="10817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1C1C1C"/>
                </a:solidFill>
                <a:latin typeface="Adobe Caslon Pro"/>
              </a:rPr>
              <a:t>CS Analytical exists to fix that — and to scale the</a:t>
            </a:r>
          </a:p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1C1C1C"/>
                </a:solidFill>
                <a:latin typeface="Adobe Caslon Pro"/>
              </a:rPr>
              <a:t>fix with agentic AI partners.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03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Brian Mulhall  —  Chief Executive Officer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0" i="0">
                <a:solidFill>
                  <a:srgbClr val="0B2545"/>
                </a:solidFill>
                <a:latin typeface="Adobe Caslon Pro"/>
              </a:rPr>
              <a:t>Thirty years building the labs the</a:t>
            </a:r>
          </a:p>
          <a:p>
            <a:pPr algn="l">
              <a:lnSpc>
                <a:spcPct val="108000"/>
              </a:lnSpc>
            </a:pPr>
            <a:r>
              <a:rPr sz="3600" b="0" i="0">
                <a:solidFill>
                  <a:srgbClr val="0B2545"/>
                </a:solidFill>
                <a:latin typeface="Adobe Caslon Pro"/>
              </a:rPr>
              <a:t>industry actually trusts.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2918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47472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1990s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2697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Sales, marketing,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and national management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at Organon (Schering Plough)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and Ferring.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47472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Late 1990s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840480"/>
            <a:ext cx="2697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VP, Pharmaceutical Services,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SGS US Testing — chemistry,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microbiology, and toxicology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across the U.S. and Canada.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47472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2002 — 2015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840480"/>
            <a:ext cx="2697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Founded Whitehouse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Analytical Laboratories.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Built to 48 FTE, 25,000 sq ft.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Sold in 2015.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47472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2015 —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840480"/>
            <a:ext cx="2697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CEO, Leak Detection Associates.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Advisor and BD lead, Visikol.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Now CEO, CS Analytical.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555B66"/>
                </a:solidFill>
                <a:latin typeface="Adobe Caslon Pro"/>
              </a:rPr>
              <a:t>Architect of the first FDA-regulated, cGMP Container Closure Integrity Testing laboratory in the world — the work that informed USP &lt;1207&gt;.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04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CS Analytical Laboratory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0B2545"/>
                </a:solidFill>
                <a:latin typeface="Adobe Caslon Pro"/>
              </a:rPr>
              <a:t>A center of excellence,</a:t>
            </a:r>
          </a:p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0B2545"/>
                </a:solidFill>
                <a:latin typeface="Adobe Caslon Pro"/>
              </a:rPr>
              <a:t>not a generalist lab.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703320"/>
            <a:ext cx="2286000" cy="0"/>
          </a:xfrm>
          <a:prstGeom prst="line">
            <a:avLst/>
          </a:prstGeom>
          <a:ln w="1587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3931920"/>
            <a:ext cx="34747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Specialty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CCIT done at a level the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big labs can't staff for —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helium leak, HVLD, vacuum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decay, dye ingress, methods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development, validation.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931920"/>
            <a:ext cx="34747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0690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Regulatory posture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5720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Built to USP &lt;1207&gt;.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cGMP from the floor up.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Methods filed, not promised.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The inspectors already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know the address.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3931920"/>
            <a:ext cx="347472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40690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Operator's company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57200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Founder-led, scientist-staffed,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client-facing PhDs. No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hand-offs. The person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running your study is the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person who designed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05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Where the money sits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A $6–7 B contract analytical market —</a:t>
            </a:r>
          </a:p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and a $300 M niche growing twice as fast.</a:t>
            </a:r>
          </a:p>
        </p:txBody>
      </p:sp>
      <p:pic>
        <p:nvPicPr>
          <p:cNvPr id="11" name="Picture 10" descr="chart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08960"/>
            <a:ext cx="6949440" cy="3731243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7955279" y="329184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55279" y="342900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Pharma analytical testing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overall:  $6.4 B,  ~9% CAGR.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CCIT carve-out:  $280 M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today  →  $475 M by 2030.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That is the bet: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the carve-out grows faster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than the host market — and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CS Analytical is built for the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carve-out, not the host.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55B66"/>
                </a:solidFill>
                <a:latin typeface="Adobe Caslon Pro"/>
              </a:rPr>
              <a:t>Figures are illustrative composites of publicly cited industry ranges (Grand View, Markets and Markets, BioPlan). Intended for strategic discussion.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TAILWINDS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06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B2545"/>
                </a:solidFill>
                <a:latin typeface="Adobe Caslon Pro"/>
              </a:rPr>
              <a:t>Four forces are pushing CCIT</a:t>
            </a:r>
          </a:p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0B2545"/>
                </a:solidFill>
                <a:latin typeface="Adobe Caslon Pro"/>
              </a:rPr>
              <a:t>from afterthought to gating step.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Biologics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77639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Roughly 40% of FDA novel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approvals are biologics. Every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one of them ships in a sterile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primary container.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566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GLP-1s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977639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11480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Multi-pen, pre-filled,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high-volume launches.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Integrity defects scale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with volume.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566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Cell, gene, mRNA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977639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11480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Cryo storage. Closed systems.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No room for leak. Methods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don't yet exist for half of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these formats.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56616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USP &lt;1207&gt;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3977639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11480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Deterministic methods are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the expectation. Probabilistic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methods are increasingly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defensive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07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Who is in the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B2545"/>
                </a:solidFill>
                <a:latin typeface="Adobe Caslon Pro"/>
              </a:rPr>
              <a:t>Big labs are broad. CCIT</a:t>
            </a:r>
          </a:p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B2545"/>
                </a:solidFill>
                <a:latin typeface="Adobe Caslon Pro"/>
              </a:rPr>
              <a:t>specialists are few.</a:t>
            </a:r>
          </a:p>
        </p:txBody>
      </p:sp>
      <p:pic>
        <p:nvPicPr>
          <p:cNvPr id="11" name="Picture 10" descr="chart_compet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43200"/>
            <a:ext cx="7132320" cy="475488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8046720" y="2926080"/>
            <a:ext cx="548640" cy="0"/>
          </a:xfrm>
          <a:prstGeom prst="line">
            <a:avLst/>
          </a:prstGeom>
          <a:ln w="9525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46720" y="3063240"/>
            <a:ext cx="3657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The big-five generalists —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Eurofins, SGS, Charles River,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Pace, Element — win on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footprint and pricing power.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The specialists — Nelson Labs,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Whitehouse, Boston Analytical,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West — win on depth in one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or two modalities.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The upper-right quadrant —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deep AND modern AND fast —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is essentially empty. That is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the CS Analytical position.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08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Why clients pick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0B2545"/>
                </a:solidFill>
                <a:latin typeface="Adobe Caslon Pro"/>
              </a:rPr>
              <a:t>Vendor-neutral, method-led,</a:t>
            </a:r>
          </a:p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0B2545"/>
                </a:solidFill>
                <a:latin typeface="Adobe Caslon Pro"/>
              </a:rPr>
              <a:t>founder-accountable.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2461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3832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Vendor-neutral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36328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We own no leak-detection platform — so we recommend the right one. PTI, LDA, Bonfiglioli, ATEQ — we run them all and tell you which fits your container.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3308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Method-led, not box-led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113088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We start with the molecule, the container, and the failure mode. The instrument is the last decision, not the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828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Founder-accountable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862896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Brian signs the study report. There is no account manager between the client and the scientist.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3270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Built to be inspected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612704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Every CS Analytical method is filed with FDA-readiness as the design goal — not a retrofit.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GROWTH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09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Where we want to 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B2545"/>
                </a:solidFill>
                <a:latin typeface="Adobe Caslon Pro"/>
              </a:rPr>
              <a:t>Five vectors. Sequenced, not</a:t>
            </a:r>
          </a:p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B2545"/>
                </a:solidFill>
                <a:latin typeface="Adobe Caslon Pro"/>
              </a:rPr>
              <a:t>stacked.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29184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204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6E1B26"/>
                </a:solidFill>
                <a:latin typeface="Adobe Caslon Pr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04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Sterile-injectable CCIT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49044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C1C1C"/>
                </a:solidFill>
                <a:latin typeface="Adobe Caslon Pro"/>
              </a:rPr>
              <a:t>The core. Defend, deepen, raise price.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6E1B26"/>
                </a:solidFill>
                <a:latin typeface="Adobe Caslon Pr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733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Cell &amp; gene cryo containers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99336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C1C1C"/>
                </a:solidFill>
                <a:latin typeface="Adobe Caslon Pro"/>
              </a:rPr>
              <a:t>New methods, new formats. First mover.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262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6E1B26"/>
                </a:solidFill>
                <a:latin typeface="Adobe Caslon Pr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762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Pre-filled syringe / autoinjector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4962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C1C1C"/>
                </a:solidFill>
                <a:latin typeface="Adobe Caslon Pro"/>
              </a:rPr>
              <a:t>GLP-1 wave demands repeatable HVLD.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6E1B26"/>
                </a:solidFill>
                <a:latin typeface="Adobe Caslon Pr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9792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Combination products &amp; device-led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9992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C1C1C"/>
                </a:solidFill>
                <a:latin typeface="Adobe Caslon Pro"/>
              </a:rPr>
              <a:t>FDA cross-center — few labs are ready.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321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6E1B26"/>
                </a:solidFill>
                <a:latin typeface="Adobe Caslon Pr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82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2545"/>
                </a:solidFill>
                <a:latin typeface="Adobe Caslon Pro"/>
              </a:rPr>
              <a:t>Regulatory consulting carve-out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550212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C1C1C"/>
                </a:solidFill>
                <a:latin typeface="Adobe Caslon Pro"/>
              </a:rPr>
              <a:t>Sell the brain, not just the bench.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AGENTIC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10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Where TSI Citadel multiplies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We are a 48-person lab.</a:t>
            </a:r>
          </a:p>
          <a:p>
            <a:pPr algn="l">
              <a:lnSpc>
                <a:spcPct val="110000"/>
              </a:lnSpc>
            </a:pPr>
            <a:r>
              <a:rPr sz="2800" b="0" i="0">
                <a:solidFill>
                  <a:srgbClr val="0B2545"/>
                </a:solidFill>
                <a:latin typeface="Adobe Caslon Pro"/>
              </a:rPr>
              <a:t>Agentic AI gives us a 480-person reach.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611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Market radar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233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Continuous scan of FDA filings,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clinical trials, conference rosters,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container-vendor catalogs — turned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into a weekly BD shortlist.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11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Regulatory intelligence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0233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16052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Track USP, EP, JP, PIC/S changes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in real time. Flag the ones that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break a client's filed method.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611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BD operations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0233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16052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Outbound, qualification, follow-up,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meeting prep. The work that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adds no science but consumes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founder hours.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611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0B2545"/>
                </a:solidFill>
                <a:latin typeface="Adobe Caslon Pro"/>
              </a:rPr>
              <a:t>Scientific literature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402336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160520"/>
            <a:ext cx="2560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Daily distillation of CCIT, HVLD,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helium-leak, and container-vendor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literature. Methods updates surfaced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C1C"/>
                </a:solidFill>
                <a:latin typeface="Adobe Caslon Pro"/>
              </a:rPr>
              <a:t>before the customer 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NINETY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11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What we'd do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B2545"/>
                </a:solidFill>
                <a:latin typeface="Adobe Caslon Pro"/>
              </a:rPr>
              <a:t>Three workstreams, ninety days,</a:t>
            </a:r>
          </a:p>
          <a:p>
            <a:pPr algn="l">
              <a:lnSpc>
                <a:spcPct val="110000"/>
              </a:lnSpc>
            </a:pPr>
            <a:r>
              <a:rPr sz="3200" b="0" i="0">
                <a:solidFill>
                  <a:srgbClr val="0B2545"/>
                </a:solidFill>
                <a:latin typeface="Adobe Caslon Pro"/>
              </a:rPr>
              <a:t>one readout.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38328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5661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1—30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Stand up the agentic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5262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6344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TSI Citadel agents wired to FDA,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ClinicalTrials.gov, USP, EP, PIC/S,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conference rosters, container-vendor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release feeds. Weekly BD digest live.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5661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31—60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Pilot two growth vectors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5262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466344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Cryo-container method development and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autoinjector HVLD. Two named pilot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clients each. Methods drafted, quotes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out, first revenue booked.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5661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E1B26"/>
                </a:solidFill>
                <a:latin typeface="Adobe Caslon Pro"/>
              </a:rPr>
              <a:t>DAYS 61—90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9319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B2545"/>
                </a:solidFill>
                <a:latin typeface="Adobe Caslon Pro"/>
              </a:rPr>
              <a:t>Package and price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4526280"/>
            <a:ext cx="365760" cy="36576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663440"/>
            <a:ext cx="3474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Productized CCIT-as-a-service tier.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Regulatory-consulting carve-out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priced. Public case studies (two)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C1C"/>
                </a:solidFill>
                <a:latin typeface="Adobe Caslon Pro"/>
              </a:rPr>
              <a:t>with client co-sign.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5800" y="5029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56032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1">
                <a:solidFill>
                  <a:srgbClr val="555B66"/>
                </a:solidFill>
                <a:latin typeface="Adobe Caslon Pro"/>
              </a:rPr>
              <a:t>CS ANALYTICAL  ·  EXECUTIVE BRIEF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6446520"/>
            <a:ext cx="10817352" cy="0"/>
          </a:xfrm>
          <a:prstGeom prst="line">
            <a:avLst/>
          </a:prstGeom>
          <a:ln w="6350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55B66"/>
                </a:solidFill>
                <a:latin typeface="Adobe Caslon Pro"/>
              </a:rPr>
              <a:t>Prepared for Al Weiss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55B66"/>
                </a:solidFill>
                <a:latin typeface="Adobe Caslon Pro"/>
              </a:rP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144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E1B26"/>
                </a:solidFill>
                <a:latin typeface="Adobe Caslon Pro"/>
              </a:rPr>
              <a:t>What we'd love your help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108173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0B2545"/>
                </a:solidFill>
                <a:latin typeface="Adobe Caslon Pro"/>
              </a:rPr>
              <a:t>An introduction. A read. A reaction.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246120"/>
            <a:ext cx="10817352" cy="0"/>
          </a:xfrm>
          <a:prstGeom prst="line">
            <a:avLst/>
          </a:prstGeom>
          <a:ln w="9525">
            <a:solidFill>
              <a:srgbClr val="C9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474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B2545"/>
                </a:solidFill>
                <a:latin typeface="Adobe Caslon Pro"/>
              </a:rPr>
              <a:t>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45472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A warm hand-off to the TSI Citadel team — at the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level where the agentic-platform partnership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conversation can actually begin.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B2545"/>
                </a:solidFill>
                <a:latin typeface="Adobe Caslon Pro"/>
              </a:rPr>
              <a:t>A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36912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Twenty minutes of your eyes on the long-form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market brief. Tell us where the thesis is thin and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where it's right.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035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B2545"/>
                </a:solidFill>
                <a:latin typeface="Adobe Caslon Pro"/>
              </a:rPr>
              <a:t>A reaction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8352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If you see a client, a partner, or a hire we should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C1C"/>
                </a:solidFill>
                <a:latin typeface="Adobe Caslon Pro"/>
              </a:rPr>
              <a:t>be in front of — say the name. We'll do the rest.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58B3A"/>
                </a:solidFill>
                <a:latin typeface="Adobe Caslon Pro"/>
              </a:rPr>
              <a:t>THANK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1737360"/>
            <a:ext cx="2286000" cy="0"/>
          </a:xfrm>
          <a:prstGeom prst="line">
            <a:avLst/>
          </a:prstGeom>
          <a:ln w="19050">
            <a:solidFill>
              <a:srgbClr val="6E1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201168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0" i="0">
                <a:solidFill>
                  <a:srgbClr val="FAF7F2"/>
                </a:solidFill>
                <a:latin typeface="Adobe Caslon Pro"/>
              </a:rPr>
              <a:t>The right work,</a:t>
            </a:r>
          </a:p>
          <a:p>
            <a:pPr algn="l">
              <a:lnSpc>
                <a:spcPct val="105000"/>
              </a:lnSpc>
            </a:pPr>
            <a:r>
              <a:rPr sz="5200" b="0" i="0">
                <a:solidFill>
                  <a:srgbClr val="FAF7F2"/>
                </a:solidFill>
                <a:latin typeface="Adobe Caslon Pro"/>
              </a:rPr>
              <a:t>in the right container,</a:t>
            </a:r>
          </a:p>
          <a:p>
            <a:pPr algn="l">
              <a:lnSpc>
                <a:spcPct val="105000"/>
              </a:lnSpc>
            </a:pPr>
            <a:r>
              <a:rPr sz="5200" b="0" i="0">
                <a:solidFill>
                  <a:srgbClr val="FAF7F2"/>
                </a:solidFill>
                <a:latin typeface="Adobe Caslon Pro"/>
              </a:rPr>
              <a:t>at the right cadence.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AF7F2"/>
                </a:solidFill>
                <a:latin typeface="Adobe Caslon Pro"/>
              </a:rPr>
              <a:t>Brian Mulhall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58B3A"/>
                </a:solidFill>
                <a:latin typeface="Adobe Caslon Pro"/>
              </a:rPr>
              <a:t>Chief Executive Officer  ·  CS Analytical Laboratory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AF7F2"/>
                </a:solidFill>
                <a:latin typeface="Adobe Caslon Pro"/>
              </a:rPr>
              <a:t>brian.mulhall@csanalytical.com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