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0"/>
            <a:ext cx="73152" cy="6858000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55B66"/>
                </a:solidFill>
                <a:latin typeface="Adobe Caslon Pro"/>
              </a:rPr>
              <a:t>CS ANALYTICAL LABORATORY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1234440"/>
            <a:ext cx="3200400" cy="0"/>
          </a:xfrm>
          <a:prstGeom prst="line">
            <a:avLst/>
          </a:prstGeom>
          <a:ln w="19050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1554480"/>
            <a:ext cx="10058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0B2545"/>
                </a:solidFill>
                <a:latin typeface="Adobe Caslon Pro"/>
              </a:rPr>
              <a:t>An opportunity brief.</a:t>
            </a:r>
          </a:p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0B2545"/>
                </a:solidFill>
                <a:latin typeface="Adobe Caslon Pro"/>
              </a:rPr>
              <a:t>Market, growth paths,</a:t>
            </a:r>
          </a:p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0B2545"/>
                </a:solidFill>
                <a:latin typeface="Adobe Caslon Pro"/>
              </a:rPr>
              <a:t>and the agentic-AI question.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5074920"/>
            <a:ext cx="2011680" cy="0"/>
          </a:xfrm>
          <a:prstGeom prst="line">
            <a:avLst/>
          </a:prstGeom>
          <a:ln w="1270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C1C1C"/>
                </a:solidFill>
                <a:latin typeface="Adobe Caslon Pro"/>
              </a:rPr>
              <a:t>Prepared by  Bruce Longley  ·  TSI-Citadel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B66"/>
                </a:solidFill>
                <a:latin typeface="Adobe Caslon Pro"/>
              </a:rPr>
              <a:t>For  Alan Weiss  ·  Chief Financial Officer  ·  CS Analytical Laboratory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97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B66"/>
                </a:solidFill>
                <a:latin typeface="Adobe Caslon Pro"/>
              </a:rPr>
              <a:t>May 2026  ·  bruce@tsicitadel.ai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WHY THIS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02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Why we're sending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0" i="0">
                <a:solidFill>
                  <a:srgbClr val="0B2545"/>
                </a:solidFill>
                <a:latin typeface="Adobe Caslon Pro"/>
              </a:rPr>
              <a:t>CS Analytical has been on our</a:t>
            </a:r>
          </a:p>
          <a:p>
            <a:pPr algn="l">
              <a:lnSpc>
                <a:spcPct val="108000"/>
              </a:lnSpc>
            </a:pPr>
            <a:r>
              <a:rPr sz="4400" b="0" i="0">
                <a:solidFill>
                  <a:srgbClr val="0B2545"/>
                </a:solidFill>
                <a:latin typeface="Adobe Caslon Pro"/>
              </a:rPr>
              <a:t>watchlist for two years.</a:t>
            </a:r>
          </a:p>
          <a:p>
            <a:pPr algn="l">
              <a:lnSpc>
                <a:spcPct val="108000"/>
              </a:lnSpc>
            </a:pPr>
            <a:r>
              <a:rPr sz="4400" b="0" i="0">
                <a:solidFill>
                  <a:srgbClr val="0B2545"/>
                </a:solidFill>
                <a:latin typeface="Adobe Caslon Pro"/>
              </a:rPr>
              <a:t>The last six months made the</a:t>
            </a:r>
          </a:p>
          <a:p>
            <a:pPr algn="l">
              <a:lnSpc>
                <a:spcPct val="108000"/>
              </a:lnSpc>
            </a:pPr>
            <a:r>
              <a:rPr sz="4400" b="0" i="0">
                <a:solidFill>
                  <a:srgbClr val="0B2545"/>
                </a:solidFill>
                <a:latin typeface="Adobe Caslon Pro"/>
              </a:rPr>
              <a:t>watchlist a working file.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5349240"/>
            <a:ext cx="2286000" cy="0"/>
          </a:xfrm>
          <a:prstGeom prst="line">
            <a:avLst/>
          </a:prstGeom>
          <a:ln w="1587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5532120"/>
            <a:ext cx="10817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1">
                <a:solidFill>
                  <a:srgbClr val="1C1C1C"/>
                </a:solidFill>
                <a:latin typeface="Adobe Caslon Pro"/>
              </a:rPr>
              <a:t>The Clifton expansion, RM Analytical, USP &lt;382&gt;, and the GLP-1</a:t>
            </a:r>
          </a:p>
          <a:p>
            <a:pPr algn="l">
              <a:lnSpc>
                <a:spcPct val="135000"/>
              </a:lnSpc>
            </a:pPr>
            <a:r>
              <a:rPr sz="1600" b="0" i="1">
                <a:solidFill>
                  <a:srgbClr val="1C1C1C"/>
                </a:solidFill>
                <a:latin typeface="Adobe Caslon Pro"/>
              </a:rPr>
              <a:t>wave all landed in the same quarter. That is the signal.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03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CS Analytical at a glance — outside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0B2545"/>
                </a:solidFill>
                <a:latin typeface="Adobe Caslon Pro"/>
              </a:rPr>
              <a:t>The only cGMP-built,</a:t>
            </a:r>
          </a:p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0B2545"/>
                </a:solidFill>
                <a:latin typeface="Adobe Caslon Pro"/>
              </a:rPr>
              <a:t>FDA-regulated lab in the world</a:t>
            </a:r>
          </a:p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0B2545"/>
                </a:solidFill>
                <a:latin typeface="Adobe Caslon Pro"/>
              </a:rPr>
              <a:t>dedicated to container testing.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160520"/>
            <a:ext cx="2286000" cy="0"/>
          </a:xfrm>
          <a:prstGeom prst="line">
            <a:avLst/>
          </a:prstGeom>
          <a:ln w="1587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85800" y="4389120"/>
            <a:ext cx="256032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5262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029200"/>
            <a:ext cx="2560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Clifton, New Jersey.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Expansion under way to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double the current footprint.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389120"/>
            <a:ext cx="256032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45262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029200"/>
            <a:ext cx="2560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USP &lt;1207&gt; deterministic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portfolio: helium leak, vacuum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decay, HVLD, laser-headspace.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USP &lt;382&gt;, Annex 1, microbial.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4389120"/>
            <a:ext cx="256032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45262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Who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5029200"/>
            <a:ext cx="2560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Founding-team pedigree on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the world's first cGMP CCIT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lab. PhD-staffed, founder-led,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client-facing scientists.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4389120"/>
            <a:ext cx="256032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45262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Recent moves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029200"/>
            <a:ext cx="2560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RM Analytical (raw materials,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Feb 2026). Micro testing —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USP &lt;87&gt;, &lt;788&gt;. USP/EP gas.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Lab doubling (May 2026).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04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What sits in front of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0B2545"/>
                </a:solidFill>
                <a:latin typeface="Adobe Caslon Pro"/>
              </a:rPr>
              <a:t>A $9.5 B host market —</a:t>
            </a:r>
          </a:p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0B2545"/>
                </a:solidFill>
                <a:latin typeface="Adobe Caslon Pro"/>
              </a:rPr>
              <a:t>and a $1.5 B niche moving with it.</a:t>
            </a:r>
          </a:p>
        </p:txBody>
      </p:sp>
      <p:pic>
        <p:nvPicPr>
          <p:cNvPr id="11" name="Picture 10" descr="chart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08960"/>
            <a:ext cx="6949440" cy="3801509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7955279" y="3291840"/>
            <a:ext cx="548640" cy="0"/>
          </a:xfrm>
          <a:prstGeom prst="line">
            <a:avLst/>
          </a:prstGeom>
          <a:ln w="952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55279" y="34290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Pharma analytical testing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outsourcing:  $9.5 B (2025),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~9% CAGR through 2030.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CCIT services carve-out: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$1.5 B (2025), ~9-10% CAGR.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$2.4 B by 2030.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No single CCIT-pure provider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holds more than mid-single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digit share. The room is open.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55B66"/>
                </a:solidFill>
                <a:latin typeface="Adobe Caslon Pro"/>
              </a:rPr>
              <a:t>Sources (composite midpoints, 2026): Precedence Research, Market Research Future, Data Horizzon, Roots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TAILWINDS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05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Four forces, one quarter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0B2545"/>
                </a:solidFill>
                <a:latin typeface="Adobe Caslon Pro"/>
              </a:rPr>
              <a:t>Each of these alone would justify</a:t>
            </a:r>
          </a:p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0B2545"/>
                </a:solidFill>
                <a:latin typeface="Adobe Caslon Pro"/>
              </a:rPr>
              <a:t>a faster plan. All four landed at once.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52044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703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USP &lt;382&gt;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16052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297680"/>
            <a:ext cx="2560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Effective Dec 1, 2025.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System-level functional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suitability testing of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elastomeric components.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Responsibility shifts to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the drug manufacturer.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703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Annex 1 convergence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16052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297680"/>
            <a:ext cx="2560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EU GMP Annex 1 now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mandates validated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deterministic CCIT.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Visual inspection alone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is no longer acceptable.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Global alignment is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703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GLP-1 / PFS wave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16052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297680"/>
            <a:ext cx="2560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Prefilled syringe market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$9.7 B (2025) → $18.1 B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(2031). GLP-1 autoinjectors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at 15.6% CAGR. Shift to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COP barrels. Volumes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punish defect rates.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703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Biologics share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416052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4297680"/>
            <a:ext cx="2560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Biologics now ~40% of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FDA novel approvals.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Every one ships in a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sterile primary container.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Glass-delamination recalls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are in the news again.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COMPETITIVE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06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Who else is in the 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Generalists are broad. Specialists</a:t>
            </a:r>
          </a:p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are few. The corner is open.</a:t>
            </a:r>
          </a:p>
        </p:txBody>
      </p:sp>
      <p:pic>
        <p:nvPicPr>
          <p:cNvPr id="11" name="Picture 10" descr="chart_compet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43200"/>
            <a:ext cx="7132320" cy="4644301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8046720" y="2926080"/>
            <a:ext cx="548640" cy="0"/>
          </a:xfrm>
          <a:prstGeom prst="line">
            <a:avLst/>
          </a:prstGeom>
          <a:ln w="952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6720" y="3063240"/>
            <a:ext cx="3657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Eurofins, SGS, Charles River,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WuXi, Pace, Intertek, Element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— broad, deep pockets, shallow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on CCIT specifically.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Nelson Labs, Boston Analytical,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West Pharma Labs — credible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specialists, slower to modernize.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The deep-and-modern corner is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structurally empty. CS Analytical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is the credible occupant.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ALREADY IN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07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What CS Analytical is already doing 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This is not a turnaround brief.</a:t>
            </a:r>
          </a:p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It is an acceleration brief.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52044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703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RM Analytical launch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16052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297680"/>
            <a:ext cx="2560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Feb 2026.  Raw material and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excipient testing under a sister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brand. Genuine adjacent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703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Clifton expansion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16052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297680"/>
            <a:ext cx="2560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May 2026.  Doubling the lab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footprint. Capacity is being built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ahead of demand, not behind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703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Micro &amp; gas testing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16052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297680"/>
            <a:ext cx="2560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USP &lt;87&gt; biological reactivity,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USP &lt;788&gt; particle size, USP/EP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gas. Cross-sell into existing book.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703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USP &lt;382&gt; readiness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416052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4297680"/>
            <a:ext cx="2560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Already running elastomer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functionality. The Dec 2025 wave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will find capacity here, not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elsewhere.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ORGANIC GROWTH — NO AI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08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Five paths that don't require an AI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Each is buildable on the</a:t>
            </a:r>
          </a:p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existing team and footprint.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8328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6118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6E1B26"/>
                </a:solidFill>
                <a:latin typeface="Adobe Caslon Pr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6518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USP &lt;382&gt; wave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6718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1C1C1C"/>
                </a:solidFill>
                <a:latin typeface="Adobe Caslon Pro"/>
              </a:rPr>
              <a:t>Be the named lab for the post-Dec 2025 elastomer functional-suitability rush.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6E1B26"/>
                </a:solidFill>
                <a:latin typeface="Adobe Caslon Pr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54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GLP-1 / PFS HVLD productization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174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1C1C1C"/>
                </a:solidFill>
                <a:latin typeface="Adobe Caslon Pro"/>
              </a:rPr>
              <a:t>Productized high-voltage leak detection for COP-barrel autoinjectors. Repeatable, high-margin.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177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6E1B26"/>
                </a:solidFill>
                <a:latin typeface="Adobe Caslon Pr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6577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Annex 1 European mandate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77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1C1C1C"/>
                </a:solidFill>
                <a:latin typeface="Adobe Caslon Pro"/>
              </a:rPr>
              <a:t>EU GMP Annex 1 deterministic CCIT requirement opens European sponsors. Reciprocal-recognition path.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1206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6E1B26"/>
                </a:solidFill>
                <a:latin typeface="Adobe Caslon Pr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160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Cell, gene &amp; cryo container 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180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1C1C1C"/>
                </a:solidFill>
                <a:latin typeface="Adobe Caslon Pro"/>
              </a:rPr>
              <a:t>New container formats with no incumbent method. Highest margin per study in the market.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2356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6E1B26"/>
                </a:solidFill>
                <a:latin typeface="Adobe Caslon Pro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663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Regulatory consulting carve-out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6835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1C1C1C"/>
                </a:solidFill>
                <a:latin typeface="Adobe Caslon Pro"/>
              </a:rPr>
              <a:t>Productize the advisory work the team gives away today. Higher margin than the bench.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AGENTIC AI — TSI-CITADEL 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09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Where TSI-Citadel multiplies what's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The healthcare agentic-AI category</a:t>
            </a:r>
          </a:p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is tracking 9× growth, 2024 → 2030.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55B66"/>
                </a:solidFill>
                <a:latin typeface="Adobe Caslon Pro"/>
              </a:rPr>
              <a:t>These are the five we'd build first.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29184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520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Regulatory intel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977639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Continuous monitoring of USP,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EP, JP, PIC/S, FDA 483s, warning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letters. Resolves changes against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client filed methods. The single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highest-value agent post-&lt;382&gt;.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520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Market radar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977639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411480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FDA filings, ClinicalTrials.gov,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conference rosters, container-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vendor releases. Daily ingest,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weekly BD shortlist with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evidence linked.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520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BD operations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3977639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411480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Outbound drafting, qualification,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follow-up, meeting prep, post-call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summary. Returns founder and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scientist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520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Scientific surveillance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3977639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411480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Daily distillation of CCIT, HVLD,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leak-detection, vendor white-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paper literature. Methods surface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before the client asks.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ROI SHAPE — FOR THE CFO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10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Three readings of the same 36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0B2545"/>
                </a:solidFill>
                <a:latin typeface="Adobe Caslon Pro"/>
              </a:rPr>
              <a:t>Status quo. Organic. Organic + agentic.</a:t>
            </a:r>
          </a:p>
        </p:txBody>
      </p:sp>
      <p:pic>
        <p:nvPicPr>
          <p:cNvPr id="11" name="Picture 10" descr="char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43200"/>
            <a:ext cx="6949440" cy="3309257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7863840" y="2743200"/>
            <a:ext cx="548640" cy="0"/>
          </a:xfrm>
          <a:prstGeom prst="line">
            <a:avLst/>
          </a:prstGeom>
          <a:ln w="952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63840" y="28803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PAYBACK ON THE AGENTIC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246120"/>
            <a:ext cx="38404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Conservative case:  9-12 months.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Carried by founder-calendar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recovery and quote-cycle reduction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alone.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Aggressive case:  4-6 months.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Driven by net-new BD opportunities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the radar surfaces and the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proposal agent closes.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Capital required: low six figures.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Not a transformation. A bolt-on.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ADJACENT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11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Where else this team could 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Adjacencies, not pivots.</a:t>
            </a:r>
          </a:p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Optional, not required.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8328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566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Combination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56616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Cross-center (CDER + CDRH) submissions. Few incumbent labs are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ready. Margin profile is favorable.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Device sterilization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0690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ISO 11135 / 11137 adjacency to existing container work. Natural cross-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sell into the same sponsor 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Compounding pharmacy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57200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USP &lt;797&gt;, &lt;800&gt;. Different regulatory floor; same testing physics.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Fragmented buyer base, less competition.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74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Veterinary biologics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507492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Same containers, smaller competitive set, USDA channel.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Underpriced relative to human-side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Industry training &amp; certification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557784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The team's reputation is a productizable asset. Course revenue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is high margin and is itself a BD funnel.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RISKS — NAMED, NOT GLOSSED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12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What we'd want to disagree 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0B2545"/>
                </a:solidFill>
                <a:latin typeface="Adobe Caslon Pro"/>
              </a:rPr>
              <a:t>Three CFO-relevant risks,</a:t>
            </a:r>
          </a:p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0B2545"/>
                </a:solidFill>
                <a:latin typeface="Adobe Caslon Pro"/>
              </a:rPr>
              <a:t>three handlings.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8328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5661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Capital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Lab expansion + RMA build + agentic spend in one fiscal year.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Handling: sequence the agentic spend behind the lab build;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agentic stack pays for itself in &lt;12 months.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805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Margin dilution from adjacencies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48056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Raw-material and micro work carries lower gross margin than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CCIT. Handling: hold the CCIT premium pricing while RMA scales;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use agentic intel to keep CCIT pipeline full.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949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Agentic-AI hallucination in regulated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39496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An agent that flags a false USP change can damage a sponsor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relationship. Handling: human-in-the-loop on every flag that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touches a client filed method. Suggested, not authoritative.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IF YOU WANTED TO WORK WITH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13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How TSI-Citadel would engage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Light footprint. Boxed scope.</a:t>
            </a:r>
          </a:p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Measurable from day one.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52044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7033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DAYS 1 —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Diagnostic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66344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006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Sit with the BD, regulatory,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and operations leads. Map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the data feeds, the cycles,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and the moments. No code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yet. A written read-out and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a go / no-go at day 30.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7033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DAYS 31 — 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0690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Two agents live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66344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8006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Regulatory-intel and market-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radar agents, wired to real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feeds. Daily output to 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named internal user. First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measurable lift inside the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period.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7033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DAYS 61 — 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0690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Decide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466344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48006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Joint readout. Numbers. The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three remaining agents are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built only if the first two have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earned them. The CFO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holds the gate, by design.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58B3A"/>
                </a:solidFill>
                <a:latin typeface="Adobe Caslon Pro"/>
              </a:rPr>
              <a:t>THE NEXT CONVERSATION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1737360"/>
            <a:ext cx="2286000" cy="0"/>
          </a:xfrm>
          <a:prstGeom prst="line">
            <a:avLst/>
          </a:prstGeom>
          <a:ln w="19050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05840" y="205740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0" i="0">
                <a:solidFill>
                  <a:srgbClr val="FAF7F2"/>
                </a:solidFill>
                <a:latin typeface="Adobe Caslon Pro"/>
              </a:rPr>
              <a:t>Read the long form</a:t>
            </a:r>
          </a:p>
          <a:p>
            <a:pPr algn="l">
              <a:lnSpc>
                <a:spcPct val="108000"/>
              </a:lnSpc>
            </a:pPr>
            <a:r>
              <a:rPr sz="4400" b="0" i="0">
                <a:solidFill>
                  <a:srgbClr val="FAF7F2"/>
                </a:solidFill>
                <a:latin typeface="Adobe Caslon Pro"/>
              </a:rPr>
              <a:t>on a plane.</a:t>
            </a:r>
          </a:p>
          <a:p>
            <a:pPr algn="l">
              <a:lnSpc>
                <a:spcPct val="108000"/>
              </a:lnSpc>
            </a:pPr>
            <a:r>
              <a:rPr sz="4400" b="0" i="0">
                <a:solidFill>
                  <a:srgbClr val="FAF7F2"/>
                </a:solidFill>
                <a:latin typeface="Adobe Caslon Pro"/>
              </a:rPr>
              <a:t>Then tell us where</a:t>
            </a:r>
          </a:p>
          <a:p>
            <a:pPr algn="l">
              <a:lnSpc>
                <a:spcPct val="108000"/>
              </a:lnSpc>
            </a:pPr>
            <a:r>
              <a:rPr sz="4400" b="0" i="0">
                <a:solidFill>
                  <a:srgbClr val="FAF7F2"/>
                </a:solidFill>
                <a:latin typeface="Adobe Caslon Pro"/>
              </a:rPr>
              <a:t>we're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074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AF7F2"/>
                </a:solidFill>
                <a:latin typeface="Adobe Caslon Pro"/>
              </a:rPr>
              <a:t>Bruce Longley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B58B3A"/>
                </a:solidFill>
                <a:latin typeface="Adobe Caslon Pro"/>
              </a:rPr>
              <a:t>TSI-Citadel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AF7F2"/>
                </a:solidFill>
                <a:latin typeface="Adobe Caslon Pro"/>
              </a:rPr>
              <a:t>bruce@tsicitadel.ai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